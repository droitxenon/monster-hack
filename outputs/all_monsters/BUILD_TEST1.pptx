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591dd0e1f42b4" /><Relationship Type="http://schemas.openxmlformats.org/officeDocument/2006/relationships/extended-properties" Target="/docProps/app.xml" Id="R330d0f0507fa4c81" /><Relationship Type="http://schemas.openxmlformats.org/officeDocument/2006/relationships/officeDocument" Target="/ppt/presentation.xml" Id="R3ba12b5b5e46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c399ade08458e"/>
  </p:sldMasterIdLst>
  <p:notesMasterIdLst>
    <p:notesMasterId xmlns:r="http://schemas.openxmlformats.org/officeDocument/2006/relationships" r:id="R22202f43a7764d0b"/>
  </p:notesMasterIdLst>
  <p:sldIdLst>
    <p:sldId xmlns:r="http://schemas.openxmlformats.org/officeDocument/2006/relationships" id="256" r:id="R859887827d664688"/>
    <p:sldId xmlns:r="http://schemas.openxmlformats.org/officeDocument/2006/relationships" id="257" r:id="Rb75151b41b534df3"/>
    <p:sldId xmlns:r="http://schemas.openxmlformats.org/officeDocument/2006/relationships" id="258" r:id="Rd41b13509db8463a"/>
    <p:sldId xmlns:r="http://schemas.openxmlformats.org/officeDocument/2006/relationships" id="259" r:id="Raeae87c19f134f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89c61b9f343e5" /><Relationship Type="http://schemas.openxmlformats.org/officeDocument/2006/relationships/slideMaster" Target="/ppt/slideMasters/slideMaster1.xml" Id="R1fec399ade08458e" /><Relationship Type="http://schemas.openxmlformats.org/officeDocument/2006/relationships/notesMaster" Target="/ppt/notesMasters/notesMaster1.xml" Id="R22202f43a7764d0b" /><Relationship Type="http://schemas.openxmlformats.org/officeDocument/2006/relationships/presProps" Target="/ppt/presProps.xml" Id="R1a638e632b22455e" /><Relationship Type="http://schemas.openxmlformats.org/officeDocument/2006/relationships/tableStyles" Target="/ppt/tableStyles.xml" Id="R0af63b767b86475a" /><Relationship Type="http://schemas.openxmlformats.org/officeDocument/2006/relationships/slide" Target="/ppt/slides/slide1.xml" Id="R859887827d664688" /><Relationship Type="http://schemas.openxmlformats.org/officeDocument/2006/relationships/slide" Target="/ppt/slides/slide2.xml" Id="Rb75151b41b534df3" /><Relationship Type="http://schemas.openxmlformats.org/officeDocument/2006/relationships/slide" Target="/ppt/slides/slide3.xml" Id="Rd41b13509db8463a" /><Relationship Type="http://schemas.openxmlformats.org/officeDocument/2006/relationships/slide" Target="/ppt/slides/slide4.xml" Id="Raeae87c19f134f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b8fe7b25849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1a7d4e49f4dee" /><Relationship Type="http://schemas.openxmlformats.org/officeDocument/2006/relationships/notesMaster" Target="/ppt/notesMasters/notesMaster1.xml" Id="R7b372cb7e6bf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f802643a34112" /><Relationship Type="http://schemas.openxmlformats.org/officeDocument/2006/relationships/notesMaster" Target="/ppt/notesMasters/notesMaster1.xml" Id="Re7d9b6bb40144a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71680981349e6" /><Relationship Type="http://schemas.openxmlformats.org/officeDocument/2006/relationships/notesMaster" Target="/ppt/notesMasters/notesMaster1.xml" Id="R45de749a6cbc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207edf42b4b75" /><Relationship Type="http://schemas.openxmlformats.org/officeDocument/2006/relationships/notesMaster" Target="/ppt/notesMasters/notesMaster1.xml" Id="R0d8908792d39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f9b6fefd940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3e86a2b4b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69047402f4d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495aee39345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bebf6252147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8ef63f48b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184786-E976-441B-9625-2D405B230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682445-097C-4439-A842-019F532BAB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630400-1C78-4384-A65D-6B3597F53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A4A76-0885-42B2-80BE-DF434466B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DB69F2-0E56-42B6-B200-487E5048DC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9631B8-86EB-4DB6-A474-E43391001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C7B1AE-7CE8-48FA-916C-0C8C87B3C9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8F4279-CFAE-408D-BDA1-3A13D570A3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5987C1-D659-4196-A980-4AD0A69A2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9D394A-FB2E-4D7A-B0F6-26DACA9292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527e1fe4845cd" /><Relationship Type="http://schemas.openxmlformats.org/officeDocument/2006/relationships/slideLayout" Target="/ppt/slideLayouts/slideLayout1.xml" Id="R956552fa8133417e" /><Relationship Type="http://schemas.openxmlformats.org/officeDocument/2006/relationships/slideLayout" Target="/ppt/slideLayouts/slideLayout2.xml" Id="Rd4bbd5243a254598" /><Relationship Type="http://schemas.openxmlformats.org/officeDocument/2006/relationships/slideLayout" Target="/ppt/slideLayouts/slideLayout3.xml" Id="Rc65b0c0943584cac" /><Relationship Type="http://schemas.openxmlformats.org/officeDocument/2006/relationships/slideLayout" Target="/ppt/slideLayouts/slideLayout4.xml" Id="R07c7d5b652a240aa" /><Relationship Type="http://schemas.openxmlformats.org/officeDocument/2006/relationships/slideLayout" Target="/ppt/slideLayouts/slideLayout5.xml" Id="R9bde14c833bf4dbb" /><Relationship Type="http://schemas.openxmlformats.org/officeDocument/2006/relationships/slideLayout" Target="/ppt/slideLayouts/slideLayout6.xml" Id="R5ceecbcba541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552fa8133417e"/>
    <p:sldLayoutId xmlns:r="http://schemas.openxmlformats.org/officeDocument/2006/relationships" id="2147483650" r:id="Rd4bbd5243a254598"/>
    <p:sldLayoutId xmlns:r="http://schemas.openxmlformats.org/officeDocument/2006/relationships" id="2147483651" r:id="Rc65b0c0943584cac"/>
    <p:sldLayoutId xmlns:r="http://schemas.openxmlformats.org/officeDocument/2006/relationships" id="2147483652" r:id="R07c7d5b652a240aa"/>
    <p:sldLayoutId xmlns:r="http://schemas.openxmlformats.org/officeDocument/2006/relationships" id="2147483653" r:id="R9bde14c833bf4dbb"/>
    <p:sldLayoutId xmlns:r="http://schemas.openxmlformats.org/officeDocument/2006/relationships" id="2147483654" r:id="R5ceecbcba541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552b392ad48f0" /><Relationship Type="http://schemas.openxmlformats.org/officeDocument/2006/relationships/notesSlide" Target="/ppt/notesSlides/notesSlide1.xml" Id="Reb83084b810049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ceab4302c4411" /><Relationship Type="http://schemas.openxmlformats.org/officeDocument/2006/relationships/notesSlide" Target="/ppt/notesSlides/notesSlide2.xml" Id="R7542bc8999bd41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538ddb16b4bfa" /><Relationship Type="http://schemas.openxmlformats.org/officeDocument/2006/relationships/notesSlide" Target="/ppt/notesSlides/notesSlide3.xml" Id="R8a4102c9842a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dc5bca4f34582" /><Relationship Type="http://schemas.openxmlformats.org/officeDocument/2006/relationships/notesSlide" Target="/ppt/notesSlides/notesSlide4.xml" Id="R6df742eeea834c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433D5-CB02-4AE1-B857-F14F917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Repeatable monster detectors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22906-43AB-479B-B8B2-2187C82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Shared scans turn activity into explicit, inspectable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168C4-EEE6-43F6-A9DB-BD59EFA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Phantom: duplicate activity fields, excluding the row 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C00D-49DE-43EF-9CBB-6B31BA1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Doppelgänger: identical complete histories within a source; both partners included.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446D8-D0B2-40F4-A3A7-44FE798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Undead: activity on a date after deregistration.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3507D-0779-4352-B8E0-19DC7D3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Zombie: a chain longer than 3 hours, with no gap above 15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97B5-FE43-499B-87D9-7CF0B0E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Web Crawler: more than 200 distinct resources within 12 hours.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8DAC5-2890-4E28-AD69-CC4DE93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5C5CC"/>
                </a:solidFill>
                <a:latin typeface="Arial"/>
                <a:ea typeface="Arial"/>
                <a:cs typeface="Arial"/>
              </a:rPr>
              <a:t>Prediction does not read HUNT labels. UTC timestamps; UK person dates.</a:t>
            </a:r>
          </a:p>
        </p:txBody>
      </p:sp>
    </p:spTree>
    <p:extLst>
      <p:ext uri="{BB962C8B-B14F-4D97-AF65-F5344CB8AC3E}">
        <p14:creationId xmlns:p14="http://schemas.microsoft.com/office/powerpoint/2010/main" val="855115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CD69-BD42-49CF-9224-4E3F6E3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Behaviour and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42CC-D3C3-47D0-8A25-319BBE9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Ghost: active in 3 of the first 4 Autumn weeks, then a weekly average</a:t>
            </a:r>
          </a:p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below 10% of the early average. Include weeks with zero activity.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D56B-CD59-4648-BF04-6C19EAB5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Vampire: more than 21 night-active dates and more night than day dates.</a:t>
            </a:r>
          </a:p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Night is after midnight through 05:00 UTC inclusive.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335AE-BD12-4B0E-A8AF-E331205D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A54C"/>
                </a:solidFill>
                <a:latin typeface="Arial"/>
                <a:ea typeface="Arial"/>
                <a:cs typeface="Arial"/>
              </a:rPr>
              <a:t>Werewolf: at least two robust weekly spikes in each of Autumn and Spring.</a:t>
            </a:r>
          </a:p>
          <a:p xmlns:a="http://schemas.openxmlformats.org/drawingml/2006/main">
            <a: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A54C"/>
                </a:solidFill>
                <a:latin typeface="Arial"/>
                <a:ea typeface="Arial"/>
                <a:cs typeface="Arial"/>
              </a:rPr>
              <a:t>Spike size is an exploratory choice, not specified in the guide.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2CB9B-09BE-4183-9DCA-28446B3E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A54C"/>
                </a:solidFill>
                <a:latin typeface="Arial"/>
                <a:ea typeface="Arial"/>
                <a:cs typeface="Arial"/>
              </a:rPr>
              <a:t>Shape-shifter: a change in the majority department of registered modules.</a:t>
            </a:r>
          </a:p>
          <a:p xmlns:a="http://schemas.openxmlformats.org/drawingml/2006/main">
            <a:pPr>
              <a:defRPr sz="20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A54C"/>
                </a:solidFill>
                <a:latin typeface="Arial"/>
                <a:ea typeface="Arial"/>
                <a:cs typeface="Arial"/>
              </a:rPr>
              <a:t>This is a proxy: the dataset contains no programme field.</a:t>
            </a:r>
          </a:p>
        </p:txBody>
      </p:sp>
    </p:spTree>
    <p:extLst>
      <p:ext uri="{BB962C8B-B14F-4D97-AF65-F5344CB8AC3E}">
        <p14:creationId xmlns:p14="http://schemas.microsoft.com/office/powerpoint/2010/main" val="367212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68B15-E1E4-4B57-ADF5-911E6AE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Candidates and training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9C10F-99A1-4BAB-8B7F-5510C8A4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Ghost: 14 test candidates. Training: 5 matched, 143 extra, 53 missed.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EA9AC-BF64-4EB8-BAF0-2AE2E35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Vampire: 12 test candidates. Training: 91 matched, 0 extra, 8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C1CF6-79A4-495F-8F18-CC3221E8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Phantom: 13 test candidates. Training: 62 matched, 15 extra, 0 missed.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527B8-639D-4BB8-BFE4-C2B3DAFC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Zombie: 1 test candidates. Training: 2 matched, 23 extra, 57 missed.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9E2BE-1618-420F-A455-44A00BE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Undead Student: 11 test candidates. Training: 92 matched, 0 extra, 0 missed.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A6A06-A4BC-4BC7-9C46-426B183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Doppelgänger: 10 test candidates. Training: 60 matched, 0 extra, 12 missed.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AE055-A0EC-4198-91FB-E5981767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Werewolf: 128 test candidates. Training: 1 matched, 1125 extra, 7 missed.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1D670-BF35-44B8-945D-8E8F0B23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Web Crawler: 0 test candidates. Training: 14 matched, 1 extra, 33 missed.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73220-4F05-446D-A51C-2FEEFD2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Shape-shifter: 36 test candidates. Training: 11 matched, 247 extra, 69 missed.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86AEE-5C90-4521-82E9-8016B1A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A54C"/>
                </a:solidFill>
                <a:latin typeface="Arial"/>
                <a:ea typeface="Arial"/>
                <a:cs typeface="Arial"/>
              </a:rPr>
              <a:t>Training comparisons are not official TEST 1 scores. Full IDs are in the combined workbook.</a:t>
            </a:r>
          </a:p>
        </p:txBody>
      </p:sp>
    </p:spTree>
    <p:extLst>
      <p:ext uri="{BB962C8B-B14F-4D97-AF65-F5344CB8AC3E}">
        <p14:creationId xmlns:p14="http://schemas.microsoft.com/office/powerpoint/2010/main" val="883006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7FC46-1B79-439C-B36A-BC12FD4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What the evidence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ACD7-0F06-4CBA-84DA-45F69E51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Undead reproduces all 92 supplied training labels with no extra candidates.</a:t>
            </a:r>
          </a:p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Phantom finds all 62 labels, with 15 extra candidates.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14FBF-A28F-4F8E-BD20-CE6A49B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Doppelgänger verifies complete histories and includes activity-only IDs.</a:t>
            </a:r>
          </a:p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Some supplied partners are missing from this split’s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EDD9A-CD8D-4F0C-99D1-B7F9E19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FA54C"/>
                </a:solidFill>
                <a:latin typeface="Arial"/>
                <a:ea typeface="Arial"/>
                <a:cs typeface="Arial"/>
              </a:rPr>
              <a:t>Werewolf and Shape-shifter have poor training agreement. Ghost, Zombie</a:t>
            </a:r>
          </a:p>
          <a:p xmlns:a="http://schemas.openxmlformats.org/drawingml/2006/main">
            <a:pPr>
              <a:defRPr sz="21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FA54C"/>
                </a:solidFill>
                <a:latin typeface="Arial"/>
                <a:ea typeface="Arial"/>
                <a:cs typeface="Arial"/>
              </a:rPr>
              <a:t>and Web Crawler also have substantial discrepancies. Review these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4EA76-2BA4-4432-86A7-22CB08B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The workbook contains candidates, not verified answers. Add team details,</a:t>
            </a:r>
          </a:p>
          <a:p xmlns:a="http://schemas.openxmlformats.org/drawingml/2006/main">
            <a:pPr>
              <a:defRPr sz="18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6ECEF"/>
                </a:solidFill>
                <a:latin typeface="Arial"/>
                <a:ea typeface="Arial"/>
                <a:cs typeface="Arial"/>
              </a:rPr>
              <a:t>review disagreements with organisers, and demonstrate the code before submitting.</a:t>
            </a:r>
          </a:p>
        </p:txBody>
      </p:sp>
    </p:spTree>
    <p:extLst>
      <p:ext uri="{BB962C8B-B14F-4D97-AF65-F5344CB8AC3E}">
        <p14:creationId xmlns:p14="http://schemas.microsoft.com/office/powerpoint/2010/main" val="1366340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2026-10-28T17:42:20.3140000Z</dcterms:created>
  <dcterms:modified xsi:type="dcterms:W3CDTF">2026-10-28T17:42:20.3140000Z</dcterms:modified>
</coreProperties>
</file>