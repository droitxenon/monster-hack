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d8b9004a34ea0" /><Relationship Type="http://schemas.openxmlformats.org/officeDocument/2006/relationships/extended-properties" Target="/docProps/app.xml" Id="R421eee4baa5e4d66" /><Relationship Type="http://schemas.openxmlformats.org/officeDocument/2006/relationships/officeDocument" Target="/ppt/presentation.xml" Id="R9c76aff8712942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39e0a41d744ba1"/>
  </p:sldMasterIdLst>
  <p:notesMasterIdLst>
    <p:notesMasterId xmlns:r="http://schemas.openxmlformats.org/officeDocument/2006/relationships" r:id="Rb0337faedcf8493b"/>
  </p:notesMasterIdLst>
  <p:sldIdLst>
    <p:sldId xmlns:r="http://schemas.openxmlformats.org/officeDocument/2006/relationships" id="256" r:id="Rf2d37a5ea5a84e9f"/>
    <p:sldId xmlns:r="http://schemas.openxmlformats.org/officeDocument/2006/relationships" id="257" r:id="R63cb8f6007c14d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211f2149894eef" /><Relationship Type="http://schemas.openxmlformats.org/officeDocument/2006/relationships/slideMaster" Target="/ppt/slideMasters/slideMaster1.xml" Id="R8a39e0a41d744ba1" /><Relationship Type="http://schemas.openxmlformats.org/officeDocument/2006/relationships/notesMaster" Target="/ppt/notesMasters/notesMaster1.xml" Id="Rb0337faedcf8493b" /><Relationship Type="http://schemas.openxmlformats.org/officeDocument/2006/relationships/presProps" Target="/ppt/presProps.xml" Id="Re959127c6e4b4649" /><Relationship Type="http://schemas.openxmlformats.org/officeDocument/2006/relationships/tableStyles" Target="/ppt/tableStyles.xml" Id="R9629b22879434909" /><Relationship Type="http://schemas.openxmlformats.org/officeDocument/2006/relationships/slide" Target="/ppt/slides/slide1.xml" Id="Rf2d37a5ea5a84e9f" /><Relationship Type="http://schemas.openxmlformats.org/officeDocument/2006/relationships/slide" Target="/ppt/slides/slide2.xml" Id="R63cb8f6007c14d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6403f210d8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6cbabffd464509" /><Relationship Type="http://schemas.openxmlformats.org/officeDocument/2006/relationships/notesMaster" Target="/ppt/notesMasters/notesMaster1.xml" Id="R1b1fedcca9fd44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d25d0ccb2b4c76" /><Relationship Type="http://schemas.openxmlformats.org/officeDocument/2006/relationships/notesMaster" Target="/ppt/notesMasters/notesMaster1.xml" Id="Rb2e6e7629cc04a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38421cea364e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42f804d734e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c37a001ee41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2bfd0895f4c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45d6d099048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75338abcc44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81DA55-6267-41D3-B648-2A1CBB3FBE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C23CEB-5945-4893-905E-D5EEEFBA7A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ED25D5-963A-47E0-8112-8F307F450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F5CB7E-57A3-426A-B717-A30F39E540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B03E64-C83E-445C-AD4E-A65D8F81CD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4A1FAA-E3BE-4316-B6D6-090F919838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951DFC-C03B-4CF4-AEF7-69397C7CC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852B94-BF27-4808-9D75-160DE91866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90C71D-F0FF-4E3A-83A8-3A48C603C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AF4B61-3FE4-48A9-81E8-011310E8B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e7916bc6f64487" /><Relationship Type="http://schemas.openxmlformats.org/officeDocument/2006/relationships/slideLayout" Target="/ppt/slideLayouts/slideLayout1.xml" Id="R008707c6091c4907" /><Relationship Type="http://schemas.openxmlformats.org/officeDocument/2006/relationships/slideLayout" Target="/ppt/slideLayouts/slideLayout2.xml" Id="R048244f3a9724276" /><Relationship Type="http://schemas.openxmlformats.org/officeDocument/2006/relationships/slideLayout" Target="/ppt/slideLayouts/slideLayout3.xml" Id="Rd1a31a6201ab4fb2" /><Relationship Type="http://schemas.openxmlformats.org/officeDocument/2006/relationships/slideLayout" Target="/ppt/slideLayouts/slideLayout4.xml" Id="R3ad6cbf564e1425d" /><Relationship Type="http://schemas.openxmlformats.org/officeDocument/2006/relationships/slideLayout" Target="/ppt/slideLayouts/slideLayout5.xml" Id="Rd8731253f92444df" /><Relationship Type="http://schemas.openxmlformats.org/officeDocument/2006/relationships/slideLayout" Target="/ppt/slideLayouts/slideLayout6.xml" Id="R9687ef2f61fd43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8707c6091c4907"/>
    <p:sldLayoutId xmlns:r="http://schemas.openxmlformats.org/officeDocument/2006/relationships" id="2147483650" r:id="R048244f3a9724276"/>
    <p:sldLayoutId xmlns:r="http://schemas.openxmlformats.org/officeDocument/2006/relationships" id="2147483651" r:id="Rd1a31a6201ab4fb2"/>
    <p:sldLayoutId xmlns:r="http://schemas.openxmlformats.org/officeDocument/2006/relationships" id="2147483652" r:id="R3ad6cbf564e1425d"/>
    <p:sldLayoutId xmlns:r="http://schemas.openxmlformats.org/officeDocument/2006/relationships" id="2147483653" r:id="Rd8731253f92444df"/>
    <p:sldLayoutId xmlns:r="http://schemas.openxmlformats.org/officeDocument/2006/relationships" id="2147483654" r:id="R9687ef2f61fd43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a4a29756af4a36" /><Relationship Type="http://schemas.openxmlformats.org/officeDocument/2006/relationships/notesSlide" Target="/ppt/notesSlides/notesSlide1.xml" Id="R3713342608f84f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a65ca0a33b4c7e" /><Relationship Type="http://schemas.openxmlformats.org/officeDocument/2006/relationships/notesSlide" Target="/ppt/notesSlides/notesSlide2.xml" Id="R8287a62827f148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FE29C-B969-4FE7-AD17-5A08325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Vampire detector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21B10-CC40-432B-AA38-7CC78AF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E6ECEF"/>
                </a:solidFill>
                <a:latin typeface="Arial"/>
                <a:ea typeface="Arial"/>
                <a:cs typeface="Arial"/>
              </a:rPr>
              <a:t>A repeatable rule using distinct activity 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8B830-E6C6-44CE-ACEA-E5A60630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1. Combine LMS and video timestamps for every student.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5F6DC-14BF-401E-BDD7-64ED901F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2. Count distinct UTC dates separately for night and day.</a:t>
            </a:r>
          </a:p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Repeated rows and activity in both sources count once per period/date.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4A794-27CF-4313-B308-D6900B84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3. Flag students with more than 21 night-active days</a:t>
            </a:r>
          </a:p>
          <a:p xmlns:a="http://schemas.openxmlformats.org/drawingml/2006/main">
            <a:pPr>
              <a:defRPr sz="21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E6ECEF"/>
                </a:solidFill>
                <a:latin typeface="Arial"/>
                <a:ea typeface="Arial"/>
                <a:cs typeface="Arial"/>
              </a:rPr>
              <a:t>and more night-active days than day-active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8AE0A-8EF6-44C8-80DD-C377775A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5C5CC"/>
                </a:solidFill>
                <a:latin typeface="Arial"/>
                <a:ea typeface="Arial"/>
                <a:cs typeface="Arial"/>
              </a:rPr>
              <a:t>Night: after 00:00 through 05:00 inclusive. Midnight counts as day.</a:t>
            </a:r>
          </a:p>
          <a:p xmlns:a="http://schemas.openxmlformats.org/drawingml/2006/main">
            <a:pPr>
              <a:defRPr sz="172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B5C5CC"/>
                </a:solidFill>
                <a:latin typeface="Arial"/>
                <a:ea typeface="Arial"/>
                <a:cs typeface="Arial"/>
              </a:rPr>
              <a:t>A date may count in both periods. HUNT labels are used only for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2C78F-A619-47F0-AD83-24B373F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A54C"/>
                </a:solidFill>
                <a:latin typeface="Arial"/>
                <a:ea typeface="Arial"/>
                <a:cs typeface="Arial"/>
              </a:rPr>
              <a:t>Demo: python vampire_detector.py --split Test</a:t>
            </a:r>
          </a:p>
        </p:txBody>
      </p:sp>
    </p:spTree>
    <p:extLst>
      <p:ext uri="{BB962C8B-B14F-4D97-AF65-F5344CB8AC3E}">
        <p14:creationId xmlns:p14="http://schemas.microsoft.com/office/powerpoint/2010/main" val="881395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EF5E3-EE4D-401E-8517-6F89A009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Vampire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11784-F132-4888-8B87-60C4B97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FFA54C"/>
                </a:solidFill>
                <a:latin typeface="Arial"/>
                <a:ea typeface="Arial"/>
                <a:cs typeface="Arial"/>
              </a:rPr>
              <a:t>12 candidates / 1,874 students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6326-86D3-4AD4-8CA8-BD6BC699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Processed 1,104,759 LMS + video rows automatically.</a:t>
            </a:r>
          </a:p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Used 1,104,441 rows; excluded 318 video rows with unknown person IDs.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B318A-1F7D-44C9-8BD2-6DF1B8A6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Full IDs are in TEST1_MANUAL_COMBINED in the Vampire workbook.</a:t>
            </a:r>
          </a:p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Night/day counts for every student are saved in test_evidence.csv.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52DC7-732E-43D5-924D-7B70A9B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A54C"/>
                </a:solidFill>
                <a:latin typeface="Arial"/>
                <a:ea typeface="Arial"/>
                <a:cs typeface="Arial"/>
              </a:rPr>
              <a:t>Training: 91 of 99 supplied Vampire labels recovered.</a:t>
            </a:r>
          </a:p>
          <a:p xmlns:a="http://schemas.openxmlformats.org/drawingml/2006/main">
            <a:pPr>
              <a:defRPr sz="195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A54C"/>
                </a:solidFill>
                <a:latin typeface="Arial"/>
                <a:ea typeface="Arial"/>
                <a:cs typeface="Arial"/>
              </a:rPr>
              <a:t>No extra candidates. Precision 100%; recall 91.9% on supplied HUNT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95C2B-EC43-4910-9662-29AFFC2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6ECEF"/>
                </a:solidFill>
                <a:latin typeface="Arial"/>
                <a:ea typeface="Arial"/>
                <a:cs typeface="Arial"/>
              </a:rPr>
              <a:t>Eight training labels do not meet this rule. Official TEST 1 accuracy is unknown.</a:t>
            </a:r>
          </a:p>
          <a:p xmlns:a="http://schemas.openxmlformats.org/drawingml/2006/main">
            <a:pPr>
              <a:defRPr sz="180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E6ECEF"/>
                </a:solidFill>
                <a:latin typeface="Arial"/>
                <a:ea typeface="Arial"/>
                <a:cs typeface="Arial"/>
              </a:rPr>
              <a:t>UTC and exact-boundary conventions are explicit assumptions.</a:t>
            </a:r>
          </a:p>
        </p:txBody>
      </p:sp>
    </p:spTree>
    <p:extLst>
      <p:ext uri="{BB962C8B-B14F-4D97-AF65-F5344CB8AC3E}">
        <p14:creationId xmlns:p14="http://schemas.microsoft.com/office/powerpoint/2010/main" val="317494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2026-10-28T17:10:54.6690000Z</dcterms:created>
  <dcterms:modified xsi:type="dcterms:W3CDTF">2026-10-28T17:10:54.6690000Z</dcterms:modified>
</coreProperties>
</file>